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898c89af-ed44-b25d-f02c-e650ec7a688c}">
          <p14:sldIdLst>
            <p14:sldId id="256"/>
          </p14:sldIdLst>
        </p14:section>
        <p14:section name="Bài toán" id="{9843592e-ab52-bccc-1148-87c628de9cd2}">
          <p14:sldIdLst>
            <p14:sldId id="257"/>
          </p14:sldIdLst>
        </p14:section>
        <p14:section name="Hệ thống" id="{1e91ba67-f45f-1f2e-0747-ad176394f4ef}">
          <p14:sldIdLst>
            <p14:sldId id="258"/>
          </p14:sldIdLst>
        </p14:section>
        <p14:section name="Kết quả" id="{c6d43b2e-efeb-cd8e-61bd-e1ba37d934a3}">
          <p14:sldIdLst>
            <p14:sldId id="259"/>
            <p14:sldId id="260"/>
            <p14:sldId id="261"/>
            <p14:sldId id="262"/>
          </p14:sldIdLst>
        </p14:section>
        <p14:section name="Phân tích" id="{a71e8662-c31e-beff-1e1f-c8ef9be07ec7}">
          <p14:sldIdLst>
            <p14:sldId id="263"/>
            <p14:sldId id="264"/>
          </p14:sldIdLst>
        </p14:section>
        <p14:section name="Kết luận" id="{b55f8579-7a61-0e80-8cf4-f7d70afde3a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2304A"/>
                </a:solidFill>
                <a:latin typeface="+mj-lt"/>
              </a:rPr>
              <a:t>Runtime end-to-end ở 982K bản ghi (s, median 3 lần)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982K (s)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Python 1 nhân</c:v>
                  </c:pt>
                  <c:pt idx="1">
                    <c:v>Spark 2 nhân</c:v>
                  </c:pt>
                  <c:pt idx="2">
                    <c:v>Spark 4 nhân</c:v>
                  </c:pt>
                  <c:pt idx="3">
                    <c:v>Spark 8 nhân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65.8</c:v>
                </c:pt>
                <c:pt idx="1">
                  <c:v>75.2</c:v>
                </c:pt>
                <c:pt idx="2">
                  <c:v>53.8</c:v>
                </c:pt>
                <c:pt idx="3">
                  <c:v>59.8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2304A"/>
                </a:solidFill>
                <a:latin typeface="+mj-lt"/>
              </a:rPr>
              <a:t>Dung lượng (MB)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E3A3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L0 JSONL</c:v>
                  </c:pt>
                  <c:pt idx="1">
                    <c:v>L1 phẳng</c:v>
                  </c:pt>
                  <c:pt idx="2">
                    <c:v>L2 nguồn</c:v>
                  </c:pt>
                  <c:pt idx="3">
                    <c:v>L3 +subset</c:v>
                  </c:pt>
                  <c:pt idx="4">
                    <c:v>L4 tệp nhỏ</c:v>
                  </c:pt>
                  <c:pt idx="5">
                    <c:v>L5 gộp</c:v>
                  </c:pt>
                  <c:pt idx="6">
                    <c:v>L6 RG16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2340.8</c:v>
                </c:pt>
                <c:pt idx="1">
                  <c:v>454.3</c:v>
                </c:pt>
                <c:pt idx="2">
                  <c:v>446.1</c:v>
                </c:pt>
                <c:pt idx="3">
                  <c:v>424.1</c:v>
                </c:pt>
                <c:pt idx="4">
                  <c:v>465.1</c:v>
                </c:pt>
                <c:pt idx="5">
                  <c:v>450.9</c:v>
                </c:pt>
                <c:pt idx="6">
                  <c:v>446.7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2304A"/>
                </a:solidFill>
                <a:latin typeface="+mj-lt"/>
              </a:rPr>
              <a:t>Tổng 6 truy vấn DuckDB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E8C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L0 JSONL</c:v>
                  </c:pt>
                  <c:pt idx="1">
                    <c:v>L1 phẳng</c:v>
                  </c:pt>
                  <c:pt idx="2">
                    <c:v>L2 nguồn</c:v>
                  </c:pt>
                  <c:pt idx="3">
                    <c:v>L3 +subset</c:v>
                  </c:pt>
                  <c:pt idx="4">
                    <c:v>L4 tệp nhỏ</c:v>
                  </c:pt>
                  <c:pt idx="5">
                    <c:v>L5 gộp</c:v>
                  </c:pt>
                  <c:pt idx="6">
                    <c:v>L6 RG16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6.57</c:v>
                </c:pt>
                <c:pt idx="1">
                  <c:v>0.611</c:v>
                </c:pt>
                <c:pt idx="2">
                  <c:v>0.692</c:v>
                </c:pt>
                <c:pt idx="3">
                  <c:v>0.736</c:v>
                </c:pt>
                <c:pt idx="4">
                  <c:v>0.936</c:v>
                </c:pt>
                <c:pt idx="5">
                  <c:v>0.622</c:v>
                </c:pt>
                <c:pt idx="6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2304A"/>
                </a:solidFill>
                <a:latin typeface="+mj-lt"/>
              </a:rPr>
              <a:t>Runtime nạp (s, median 3 lần)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3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Dựng lại toàn bộ</c:v>
                  </c:pt>
                  <c:pt idx="1">
                    <c:v>v1 batch 171.898</c:v>
                  </c:pt>
                  <c:pt idx="2">
                    <c:v>v2 nạp lại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52.5</c:v>
                </c:pt>
                <c:pt idx="1">
                  <c:v>22.3</c:v>
                </c:pt>
                <c:pt idx="2">
                  <c:v>17.6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04A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2304A"/>
                </a:solidFill>
                <a:latin typeface="+mj-lt"/>
              </a:rPr>
              <a:t>Phân rã 55,8 s (median 3 lần)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Đọc + parse JSON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Spark ETL 982K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Ánh xạ, regex, join</c:v>
                </c:pt>
              </c:strCache>
            </c:strRef>
          </c:tx>
          <c:spPr>
            <a:solidFill>
              <a:srgbClr val="E3A3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Spark ETL 982K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Kiểm tra trùng khóa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Spark ETL 982K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Ghi Parquet zstd</c:v>
                </c:pt>
              </c:strCache>
            </c:strRef>
          </c:tx>
          <c:spPr>
            <a:solidFill>
              <a:srgbClr val="0E8C7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Spark ETL 982K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TV1 mở đầu: một câu về mục tiêu — kho dữ liệu toán đa nguồn, có lược đồ chung, truy vấn được, truy vết được nguồn gốc. Giới thiệu nhóm 7 người và vai trò.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TV1: ba nguồn khác nhau về định dạng, khóa và biểu diễn. Hai câu hỏi nghiên cứu. Nhấn mạnh nút thắt Big Data là đa dạng + khối lượng + small files + cập nhật.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TV5/TV6: đi qua từng vùng. Bản Python tham chiếu là đặc tả; Spark dùng cùng biểu thức chính quy nên parity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TV7: các bằng chứng cho RQ1. 5 lỗi là 'định lý' không tên trong tệp định nghĩa cú pháp của LeanDojo. Truy vết đọc lại đúng dòng raw, mảng JSON đọc theo luồng.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TV6: kết quả trung thực — Spark không tăng tốc tuyến tính. Baseline đơn giản rất cạnh tranh ở quy mô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TV6: 7 cấu hình, 3 lần ghi, 3 lần truy vấn, kết quả 21/21 khớp L0. Row group 16 MB giúp lọc LeanDojo nhanh gấp 2,8 lần.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TV7/TV1: _lake_log, idempotent, minor compaction. API: client Python mdl.client, tài liệu docs/api.md.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TV5: ablation 7 cấu hình × 3 lần. Kiểm tra trùng khóa đắt nhất: cải tiến là kiểm tra sau khi ghi trên cột record_id.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TV2/TV3/TV4: giả thuyết ban đầu về \f bị bác bỏ khi xem ví dụ — minh họa vì sao cần error analysis trên dữ liệu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TV1: tóm tắt trả lời RQ1/RQ2, sản phẩm bàn giao, giới hạn, mời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Nhóm 1 · Math Data Lake · INT4418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Math Data Lake: hợp nhất dữ liệu toán học đa biểu diễn, truy vết tới từng dòng raw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Nhóm 1 · INT4418 Dữ liệu lớn · PTIT · GV: TS. Nguyễn Kiều Linh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NuminaMath-CoT + ProofNet + LeanDojo Benchmark 4 · 982.477 bản ghi · bản 1.0.0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 nguồn, ba định dạng, ba ngôn ngữ biểu diễn</a:t>
            </a:r>
            <a:endParaRPr lang="en-US" sz="3200" dirty="0"/>
          </a:p>
        </p:txBody>
      </p:sp>
      <p:sp>
        <p:nvSpPr>
          <p:cNvPr id="3" name="nguon-0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am-0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NuminaMath-CoT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859.594 bài · văn bản + LaTeX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Parquet · không có ID gốc</a:t>
            </a:r>
            <a:endParaRPr lang="en-US" sz="1400" dirty="0"/>
          </a:p>
        </p:txBody>
      </p:sp>
      <p:sp>
        <p:nvSpPr>
          <p:cNvPr id="7" name="nguon-1"/>
          <p:cNvSpPr/>
          <p:nvPr/>
        </p:nvSpPr>
        <p:spPr>
          <a:xfrm>
            <a:off x="434340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am-1"/>
          <p:cNvSpPr/>
          <p:nvPr/>
        </p:nvSpPr>
        <p:spPr>
          <a:xfrm>
            <a:off x="461772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ProofNet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371 cặp NL – Lean 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JSONL · khóa Sách|bài</a:t>
            </a:r>
            <a:endParaRPr lang="en-US" sz="1400" dirty="0"/>
          </a:p>
        </p:txBody>
      </p:sp>
      <p:sp>
        <p:nvSpPr>
          <p:cNvPr id="11" name="nguon-2"/>
          <p:cNvSpPr/>
          <p:nvPr/>
        </p:nvSpPr>
        <p:spPr>
          <a:xfrm>
            <a:off x="813816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am-2"/>
          <p:cNvSpPr/>
          <p:nvPr/>
        </p:nvSpPr>
        <p:spPr>
          <a:xfrm>
            <a:off x="8412480" y="1600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LeanDojo Benchmark 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122.517 định lý Lean 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mảng JSON 373 MB + corpus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RQ1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Hợp nhất văn bản, LaTeX, Lean vào một lược đồ mà không mất provenance?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RQ2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Định dạng và chia vùng ảnh hưởng thế nào tới thời gian, RAM, dung lượng khi 10K → 982K?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Nút thắt: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đa dạng · mảng JSON phải nạp trọn vào RAM · chi phí đọc–ghi · số tệp nhỏ · cập nhật gia tăng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Kiến trúc: raw → staging → Spark ETL → Parquet</a:t>
            </a:r>
            <a:endParaRPr lang="en-US" sz="3200" dirty="0"/>
          </a:p>
        </p:txBody>
      </p:sp>
      <p:pic>
        <p:nvPicPr>
          <p:cNvPr id="3" name="kien-truc" descr="D:\Study\thsHTTT\bigdata\Tuan_10\math_data_lake\results\figures\h1_kien_tr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28986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Lược đồ math_record 37 cột · record_id = sha1(source|key)[:20]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Provenance bắt buộc: raw_uri, raw_row, raw_sha256, license, downloaded_at, ingest_run_id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Parquet zstd · partition source/source_version · row group 16 MB · sắp xếp record_id · _lake_log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RQ1: hợp nhất ~1 triệu bản ghi mà không mất nguồn gốc</a:t>
            </a:r>
            <a:endParaRPr lang="en-US" sz="3200" dirty="0"/>
          </a:p>
        </p:txBody>
      </p:sp>
      <p:sp>
        <p:nvSpPr>
          <p:cNvPr id="3" name="rq1-0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982.477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bản ghi curated / 982.482 vào</a:t>
            </a:r>
            <a:endParaRPr lang="en-US" sz="1400" dirty="0"/>
          </a:p>
        </p:txBody>
      </p:sp>
      <p:sp>
        <p:nvSpPr>
          <p:cNvPr id="6" name="rq1-1"/>
          <p:cNvSpPr/>
          <p:nvPr/>
        </p:nvSpPr>
        <p:spPr>
          <a:xfrm>
            <a:off x="4343400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tỷ lệ lỗi lược đồ (5 bản ghi)</a:t>
            </a:r>
            <a:endParaRPr lang="en-US" sz="1400" dirty="0"/>
          </a:p>
        </p:txBody>
      </p:sp>
      <p:sp>
        <p:nvSpPr>
          <p:cNvPr id="9" name="rq1-2"/>
          <p:cNvSpPr/>
          <p:nvPr/>
        </p:nvSpPr>
        <p:spPr>
          <a:xfrm>
            <a:off x="8138160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bản ghi có đủ 9 cột provenance</a:t>
            </a:r>
            <a:endParaRPr lang="en-US" sz="1400" dirty="0"/>
          </a:p>
        </p:txBody>
      </p:sp>
      <p:sp>
        <p:nvSpPr>
          <p:cNvPr id="12" name="rq1-3"/>
          <p:cNvSpPr/>
          <p:nvPr/>
        </p:nvSpPr>
        <p:spPr>
          <a:xfrm>
            <a:off x="54864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bản ghi truy vết đúng dòng raw, sha256 khớp</a:t>
            </a:r>
            <a:endParaRPr lang="en-US" sz="1400" dirty="0"/>
          </a:p>
        </p:txBody>
      </p:sp>
      <p:sp>
        <p:nvSpPr>
          <p:cNvPr id="15" name="rq1-4"/>
          <p:cNvSpPr/>
          <p:nvPr/>
        </p:nvSpPr>
        <p:spPr>
          <a:xfrm>
            <a:off x="434340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4069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khác biệt Spark ↔ Python trên 36 cột</a:t>
            </a:r>
            <a:endParaRPr lang="en-US" sz="1400" dirty="0"/>
          </a:p>
        </p:txBody>
      </p:sp>
      <p:sp>
        <p:nvSpPr>
          <p:cNvPr id="18" name="rq1-5"/>
          <p:cNvSpPr/>
          <p:nvPr/>
        </p:nvSpPr>
        <p:spPr>
          <a:xfrm>
            <a:off x="813816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4069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122.512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định lý join được corpus Lean (100%)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RQ2: Spark trên một máy chỉ thắng ở quy mô lớn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49440" y="14630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10K: Python 1,4 s · Spark 13–25 s (chi phí cố định)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Điểm hòa vốn giữa 500K và 982K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 nhân chậm hơn 4 nhân: heap 2 GB dùng chung, tràn đĩa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Spark đọc 9,7 GB cho 1,8 GB đầu vào (×5)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4937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Giới hạn chung: ≤ 3,5 GB RAM mỗi lần chạy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Định dạng cột và kích thước tệp quyết định chi phí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3258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Parquet nhỏ hơn 5,2× và nhanh hơn 10,8× · 512 tệp nhỏ: +53% thời gian truy vấn · compaction khôi phục hoàn toàn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Nạp gia tăng và API dữ liệu cho Nhóm 2–8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pi-card"/>
          <p:cNvSpPr/>
          <p:nvPr/>
        </p:nvSpPr>
        <p:spPr>
          <a:xfrm>
            <a:off x="6309360" y="1325880"/>
            <a:ext cx="534924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5087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API FastAPI + DuckDB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/records, /pairs/nl-formal, /premises/{p}/theorems, /provenance, /export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client: 31,6 QPS · P95 57 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 client: 85 QPS · P95 169 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50 client: 88,5 QPS · P95 773 ms (bão hòa)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0 lỗi / 13.500 request · RAM ≤ 483 MB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Kho sau gia tăng trùng khớp hoàn toàn với bản dựng lại · nạp lại: 0 bản ghi mới · nội dung đổi cùng phiên bản bị từ chối (E07)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Điểm nghẽn là CPU và việc quét lại, không phải đọc đĩa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11064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bl-0"/>
          <p:cNvSpPr/>
          <p:nvPr/>
        </p:nvSpPr>
        <p:spPr>
          <a:xfrm>
            <a:off x="548640" y="379476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tắt kiểm tra trùng khóa: bỏ lần quét lại 3,7 GB</a:t>
            </a:r>
            <a:endParaRPr lang="en-US" sz="1400" dirty="0"/>
          </a:p>
        </p:txBody>
      </p:sp>
      <p:sp>
        <p:nvSpPr>
          <p:cNvPr id="7" name="abl-1"/>
          <p:cNvSpPr/>
          <p:nvPr/>
        </p:nvSpPr>
        <p:spPr>
          <a:xfrm>
            <a:off x="3383280" y="379476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×1,9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 cứu điểm nhanh hơn khi sắp xếp theo record_id</a:t>
            </a:r>
            <a:endParaRPr lang="en-US" sz="1400" dirty="0"/>
          </a:p>
        </p:txBody>
      </p:sp>
      <p:sp>
        <p:nvSpPr>
          <p:cNvPr id="10" name="abl-2"/>
          <p:cNvSpPr/>
          <p:nvPr/>
        </p:nvSpPr>
        <p:spPr>
          <a:xfrm>
            <a:off x="6217920" y="379476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×3,2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dung lượng nếu không nén (truy vấn −30%)</a:t>
            </a:r>
            <a:endParaRPr lang="en-US" sz="1400" dirty="0"/>
          </a:p>
        </p:txBody>
      </p:sp>
      <p:sp>
        <p:nvSpPr>
          <p:cNvPr id="13" name="abl-3"/>
          <p:cNvSpPr/>
          <p:nvPr/>
        </p:nvSpPr>
        <p:spPr>
          <a:xfrm>
            <a:off x="9052560" y="379476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chia split 32 MB: thêm task, thêm tệp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Phân tích lỗi trên dữ liệu thật</a:t>
            </a:r>
            <a:endParaRPr lang="en-US" sz="3200" dirty="0"/>
          </a:p>
        </p:txBody>
      </p:sp>
      <p:sp>
        <p:nvSpPr>
          <p:cNvPr id="3" name="loi-0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định lý LeanDojo không tên: thực chất là định nghĩa cú pháp (proof_wanted, DeprecateMe)</a:t>
            </a:r>
            <a:endParaRPr lang="en-US" sz="1500" dirty="0"/>
          </a:p>
        </p:txBody>
      </p:sp>
      <p:sp>
        <p:nvSpPr>
          <p:cNvPr id="6" name="loi-1"/>
          <p:cNvSpPr/>
          <p:nvPr/>
        </p:nvSpPr>
        <p:spPr>
          <a:xfrm>
            <a:off x="617220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cờ $ lẻ là ký hiệu tiền tệ (orca_math): dương tính giả</a:t>
            </a:r>
            <a:endParaRPr lang="en-US" sz="1500" dirty="0"/>
          </a:p>
        </p:txBody>
      </p:sp>
      <p:sp>
        <p:nvSpPr>
          <p:cNvPr id="9" name="loi-2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0x0B/0x0C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ký tự điều khiển = ligature ff/fi font TeX OT1 sót từ PDF (aops_forum)</a:t>
            </a:r>
            <a:endParaRPr lang="en-US" sz="1500" dirty="0"/>
          </a:p>
        </p:txBody>
      </p:sp>
      <p:sp>
        <p:nvSpPr>
          <p:cNvPr id="12" name="loi-3"/>
          <p:cNvSpPr/>
          <p:nvPr/>
        </p:nvSpPr>
        <p:spPr>
          <a:xfrm>
            <a:off x="617220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3,99% → 0,001%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tách phát biểu Lean sai do := trong @[attr]; sửa bằng regex mức ngoặc 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Bàn giao: kho, contract v1.0, API, 25 test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Giới hạn: một máy, RAM ≤ 4 GB, không có ACID khi compaction, phân loại lỗi bằng quy tắc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Tiếp theo: kiểm trùng sau khi ghi · Iceberg/Delta · snapshot nguồn mới · chạy trên cụm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h Data Lake">
  <a:themeElements>
    <a:clrScheme name="Math Data Lake">
      <a:dk1>
        <a:srgbClr val="1B2333"/>
      </a:dk1>
      <a:lt1>
        <a:srgbClr val="FFFFFF"/>
      </a:lt1>
      <a:dk2>
        <a:srgbClr val="22304A"/>
      </a:dk2>
      <a:lt2>
        <a:srgbClr val="EEF2F7"/>
      </a:lt2>
      <a:accent1>
        <a:srgbClr val="0E8C7F"/>
      </a:accent1>
      <a:accent2>
        <a:srgbClr val="E3A33B"/>
      </a:accent2>
      <a:accent3>
        <a:srgbClr val="5B6B8C"/>
      </a:accent3>
      <a:accent4>
        <a:srgbClr val="C8553D"/>
      </a:accent4>
      <a:accent5>
        <a:srgbClr val="7FB7BE"/>
      </a:accent5>
      <a:accent6>
        <a:srgbClr val="A0A9B8"/>
      </a:accent6>
      <a:hlink>
        <a:srgbClr val="0E8C7F"/>
      </a:hlink>
      <a:folHlink>
        <a:srgbClr val="5B6B8C"/>
      </a:folHlink>
    </a:clrScheme>
    <a:fontScheme name="Math Data Lak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Data Lake — Nhóm 1</dc:title>
  <dc:subject>PptxGenJS Presentation</dc:subject>
  <dc:creator>Nhóm 1 INT4418</dc:creator>
  <cp:lastModifiedBy>Nhóm 1 INT4418</cp:lastModifiedBy>
  <cp:revision>1</cp:revision>
  <dcterms:created xsi:type="dcterms:W3CDTF">2026-10-21T15:41:40Z</dcterms:created>
  <dcterms:modified xsi:type="dcterms:W3CDTF">2026-10-21T15:41:40Z</dcterms:modified>
</cp:coreProperties>
</file>